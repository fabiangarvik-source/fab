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5B99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1F3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Speaker events</c:v>
                  </c:pt>
                  <c:pt idx="1">
                    <c:v>Workshops &amp; food</c:v>
                  </c:pt>
                  <c:pt idx="2">
                    <c:v>Boston trek transport</c:v>
                  </c:pt>
                  <c:pt idx="3">
                    <c:v>Competition fees</c:v>
                  </c:pt>
                  <c:pt idx="4">
                    <c:v>Marketing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400</c:v>
                </c:pt>
                <c:pt idx="1">
                  <c:v>600</c:v>
                </c:pt>
                <c:pt idx="2">
                  <c:v>800</c:v>
                </c:pt>
                <c:pt idx="3">
                  <c:v>300</c:v>
                </c:pt>
                <c:pt idx="4">
                  <c:v>200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1F3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2433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confidently. One sentence: "I want to start a student-run finance club that gives every Assumption student — regardless of major or year — a path into finance careers, and I would like your help to do it." Then go straight to who you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this to 60 seconds. Replace the icon circle with a professional headshot and fill in your major and class year. The point of this slide: I am disciplined (athlete), I think globally (Norway / oil fund), and I have already done consulting-style work (SLU RFP). Do not read the boxes — tell one short story, e.g. the oil fund paper.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whole pitch on one page — consultants call it "answer first". If the professor only remembers one slide, it should be this one. Say the ask out loud here, then say "let me show you why".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"why now". Be precise and respectful: the Investment Club is good — it is just gated. VERIFY before Monday: (1) that there really is no other open finance or business club recognized on campus (check the SGA / Student Activities club list), (2) roughly how many finance majors/minors Assumption has — ask the professor; if you can get that number it is a much stronger stat. Do not claim numbers you cannot back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most important slide for a finance professor, because the first objection will be "we already have the Investment Club". Say it before they do: "The Investment Club is great, and I want AFC to feed it — not compete with it." Offer a joint event per semester with 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pillars quickly — 15 seconds each. Emphasize that this is practical and career-focused, which is exactly what the Investment Club is not designed to do for younger students.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that you have thought about execution, not just the idea. The April handover is deliberate: it answers "what happens when you graduate?" before they ask. Adjust months around your tennis schedule.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you already have co-founders, put their names in the boxes — names make it real. Ideally recruit at least 2–3 people (ideally not all athletes, and at least one underclassman) before or right after this meeting.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estimates — say so. Ask the professor what a realistic SGA allocation for a new club is; many new clubs get a small starter budget and grow once they show attendance. Being modest here builds credibility.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Consultants always show risks — it signals maturity. Raising "I am an athlete with limited time" yourself is much stronger than having the professor raise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Stop talking after the ask and let them respond. Write down every name, office, and requirement they mention. Before you leave, agree on one concrete follow-up (e.g., "I will send you a draft constitution by Friday").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image" Target="../media/image-10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223760" y="-1463040"/>
            <a:ext cx="6949440" cy="6949440"/>
          </a:xfrm>
          <a:prstGeom prst="ellipse">
            <a:avLst/>
          </a:prstGeom>
          <a:solidFill>
            <a:srgbClr val="10294B"/>
          </a:solidFill>
          <a:ln w="12700">
            <a:solidFill>
              <a:srgbClr val="1029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3291840"/>
            <a:ext cx="4754880" cy="4754880"/>
          </a:xfrm>
          <a:prstGeom prst="ellipse">
            <a:avLst/>
          </a:prstGeom>
          <a:solidFill>
            <a:srgbClr val="0E2545"/>
          </a:solidFill>
          <a:ln w="12700">
            <a:solidFill>
              <a:srgbClr val="0E2545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01000" y="1234440"/>
            <a:ext cx="3840480" cy="38404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3716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B6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 ·  FALL 2026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1783080"/>
            <a:ext cx="68580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Finance Club</a:t>
            </a:r>
            <a:endParaRPr lang="en-US" sz="54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886200"/>
            <a:ext cx="6675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D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Building Assumption’s front door to careers in finance</a:t>
            </a:r>
            <a:endParaRPr lang="en-US" sz="20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074920"/>
            <a:ext cx="6400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Fabian Garvik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B6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fabian.garvik@assumption.edu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Norwegian student-athlete who brings discipline, an international lens and hands-on consulting experience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377440" cy="2377440"/>
          </a:xfrm>
          <a:prstGeom prst="ellipse">
            <a:avLst/>
          </a:prstGeom>
          <a:solidFill>
            <a:srgbClr val="0B1F3A"/>
          </a:solidFill>
          <a:ln w="38100">
            <a:solidFill>
              <a:srgbClr val="B6BFC5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4440" y="2468880"/>
            <a:ext cx="1005840" cy="10058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4389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Fabian Garvik</a:t>
            </a:r>
            <a:endParaRPr lang="en-US" sz="1800" dirty="0"/>
          </a:p>
        </p:txBody>
      </p:sp>
      <p:sp>
        <p:nvSpPr>
          <p:cNvPr id="10" name="Text 6"/>
          <p:cNvSpPr txBox="1"/>
          <p:nvPr/>
        </p:nvSpPr>
        <p:spPr>
          <a:xfrm>
            <a:off x="548640" y="4754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Høvik (Oslo), Norway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[Major]  ·  Class of [20XX]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3566160" y="1783080"/>
            <a:ext cx="3886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794760" y="2011680"/>
            <a:ext cx="548640" cy="548640"/>
          </a:xfrm>
          <a:prstGeom prst="ellipse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22776" y="2139696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80560" y="2039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Student-athlete</a:t>
            </a:r>
            <a:endParaRPr lang="en-US" sz="1500" dirty="0"/>
          </a:p>
        </p:txBody>
      </p:sp>
      <p:sp>
        <p:nvSpPr>
          <p:cNvPr id="15" name="Text 10"/>
          <p:cNvSpPr txBox="1"/>
          <p:nvPr/>
        </p:nvSpPr>
        <p:spPr>
          <a:xfrm>
            <a:off x="3794760" y="2651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Men’s Tennis at Assumption. Trained at Norges Toppidrettsgymnas (NTG), Norway’s elite sports high school — 10+ years of competing under pressure.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7726680" y="1783080"/>
            <a:ext cx="3886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7955280" y="2011680"/>
            <a:ext cx="548640" cy="548640"/>
          </a:xfrm>
          <a:prstGeom prst="ellipse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83296" y="2139696"/>
            <a:ext cx="292608" cy="292608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641080" y="20391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International perspective</a:t>
            </a:r>
            <a:endParaRPr lang="en-US" sz="1500" dirty="0"/>
          </a:p>
        </p:txBody>
      </p:sp>
      <p:sp>
        <p:nvSpPr>
          <p:cNvPr id="20" name="Text 14"/>
          <p:cNvSpPr txBox="1"/>
          <p:nvPr/>
        </p:nvSpPr>
        <p:spPr>
          <a:xfrm>
            <a:off x="7955280" y="26517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Grew up in Norway, home of the world’s largest sovereign wealth fund. Wrote a research paper on how oil wealth built the Norwegian Government Pension Fund.</a:t>
            </a:r>
            <a:endParaRPr lang="en-US" sz="1150" dirty="0"/>
          </a:p>
        </p:txBody>
      </p:sp>
      <p:sp>
        <p:nvSpPr>
          <p:cNvPr id="21" name="Shape 15"/>
          <p:cNvSpPr/>
          <p:nvPr/>
        </p:nvSpPr>
        <p:spPr>
          <a:xfrm>
            <a:off x="3566160" y="3840480"/>
            <a:ext cx="3886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794760" y="4069080"/>
            <a:ext cx="548640" cy="548640"/>
          </a:xfrm>
          <a:prstGeom prst="ellipse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22776" y="4197096"/>
            <a:ext cx="292608" cy="292608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480560" y="40965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Consulting experience</a:t>
            </a:r>
            <a:endParaRPr lang="en-US" sz="1500" dirty="0"/>
          </a:p>
        </p:txBody>
      </p:sp>
      <p:sp>
        <p:nvSpPr>
          <p:cNvPr id="25" name="Text 18"/>
          <p:cNvSpPr txBox="1"/>
          <p:nvPr/>
        </p:nvSpPr>
        <p:spPr>
          <a:xfrm>
            <a:off x="3794760" y="4709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Saint Louis University, co-led an RFP response for a mid-sized distributor: ERP, network and ROI recommendation. I owned the executive summary.</a:t>
            </a:r>
            <a:endParaRPr lang="en-US" sz="1150" dirty="0"/>
          </a:p>
        </p:txBody>
      </p:sp>
      <p:sp>
        <p:nvSpPr>
          <p:cNvPr id="26" name="Shape 19"/>
          <p:cNvSpPr/>
          <p:nvPr/>
        </p:nvSpPr>
        <p:spPr>
          <a:xfrm>
            <a:off x="7726680" y="3840480"/>
            <a:ext cx="388620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7955280" y="4069080"/>
            <a:ext cx="548640" cy="548640"/>
          </a:xfrm>
          <a:prstGeom prst="ellipse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83296" y="4197096"/>
            <a:ext cx="292608" cy="292608"/>
          </a:xfrm>
          <a:prstGeom prst="rect">
            <a:avLst/>
          </a:prstGeom>
        </p:spPr>
      </p:pic>
      <p:sp>
        <p:nvSpPr>
          <p:cNvPr id="29" name="Text 21"/>
          <p:cNvSpPr txBox="1"/>
          <p:nvPr/>
        </p:nvSpPr>
        <p:spPr>
          <a:xfrm>
            <a:off x="8641080" y="4096512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finance</a:t>
            </a:r>
            <a:endParaRPr lang="en-US" sz="1500" dirty="0"/>
          </a:p>
        </p:txBody>
      </p:sp>
      <p:sp>
        <p:nvSpPr>
          <p:cNvPr id="30" name="Text 22"/>
          <p:cNvSpPr txBox="1"/>
          <p:nvPr/>
        </p:nvSpPr>
        <p:spPr>
          <a:xfrm>
            <a:off x="7955280" y="4709160"/>
            <a:ext cx="3429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follow markets daily and want a career in finance. I transferred to Assumption this fall — and found no open place for students like me to build those skills.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summary: an open, career-focused finance club that feeds — not competes with — the Greyhound Investment Club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19456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78308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Situation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2880360" y="1783080"/>
            <a:ext cx="8762695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3108960" y="1783080"/>
            <a:ext cx="8351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is one of the most popular career goals for business students, and Assumption already runs a strong, selective Greyhound Investment Club inside the Grenon School of Business.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2862072"/>
            <a:ext cx="219456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8640" y="2862072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Complication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880360" y="2862072"/>
            <a:ext cx="8762695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108960" y="2862072"/>
            <a:ext cx="8351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Investment Club requires FIN 325 and ECO 115 first — so most first- and second-year students, and non-finance majors, have no structured way in. Yet internship recruiting in finance starts as early as sophomore year.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941064"/>
            <a:ext cx="2194560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48640" y="3941064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Proposal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880360" y="3941064"/>
            <a:ext cx="8762695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3108960" y="3941064"/>
            <a:ext cx="8351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the Assumption Finance Club (AFC): open to all majors and years, focused on skills, networking and recruiting — Learn, Connect, Compete, Launch.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5020056"/>
            <a:ext cx="2194560" cy="914400"/>
          </a:xfrm>
          <a:prstGeom prst="rect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8640" y="5020056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Ask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2880360" y="5020056"/>
            <a:ext cx="8762695" cy="9144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3108960" y="5020056"/>
            <a:ext cx="83512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faculty advisor, support through club recognition, and an introduction to the Investment Club and CareerSuccess so AFC can act as their pipeline.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Today, students interested in finance have no open entry point until their junior year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Assumption University CareerSuccess, Greyhound Investment Club page; public bank recruiting calendars (timing varies by firm).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9164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typical finance-minded student’s path today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548640" y="2221992"/>
            <a:ext cx="640080" cy="640080"/>
          </a:xfrm>
          <a:prstGeom prst="ellipse">
            <a:avLst/>
          </a:prstGeom>
          <a:solidFill>
            <a:srgbClr val="D9DEE3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48640" y="222199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Y1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868680" y="2880360"/>
            <a:ext cx="0" cy="27432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1417320" y="219456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Interested in finance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club, no community, no guidance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3154680"/>
            <a:ext cx="640080" cy="640080"/>
          </a:xfrm>
          <a:prstGeom prst="ellipse">
            <a:avLst/>
          </a:prstGeom>
          <a:solidFill>
            <a:srgbClr val="D9DEE3"/>
          </a:solidFill>
          <a:ln w="12700">
            <a:solidFill>
              <a:srgbClr val="D9DEE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31546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Y2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868680" y="3813048"/>
            <a:ext cx="0" cy="27432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417320" y="3127248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Recruiting starts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no structured prep or network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548640" y="4087368"/>
            <a:ext cx="640080" cy="640080"/>
          </a:xfrm>
          <a:prstGeom prst="ellipse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48640" y="4087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Y3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868680" y="4745736"/>
            <a:ext cx="0" cy="27432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417320" y="4059936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Eligible for GIC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FIN 325 + ECO 115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5020056"/>
            <a:ext cx="640080" cy="640080"/>
          </a:xfrm>
          <a:prstGeom prst="ellipse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48640" y="502005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Y4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1417320" y="4992624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Full-time offers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by junior-year internship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4846320" y="2194560"/>
            <a:ext cx="1463040" cy="1737360"/>
          </a:xfrm>
          <a:prstGeom prst="roundRect">
            <a:avLst>
              <a:gd name="adj" fmla="val 6250"/>
            </a:avLst>
          </a:prstGeom>
          <a:solidFill>
            <a:srgbClr val="EAF2F9"/>
          </a:solidFill>
          <a:ln w="19050">
            <a:solidFill>
              <a:srgbClr val="005B99"/>
            </a:solidFill>
            <a:prstDash val="dash"/>
          </a:ln>
        </p:spPr>
      </p:sp>
      <p:sp>
        <p:nvSpPr>
          <p:cNvPr id="25" name="Text 22"/>
          <p:cNvSpPr txBox="1"/>
          <p:nvPr/>
        </p:nvSpPr>
        <p:spPr>
          <a:xfrm>
            <a:off x="4846320" y="2194560"/>
            <a:ext cx="1463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AFC fills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1–2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949440" y="1691640"/>
            <a:ext cx="4693615" cy="4206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269480" y="1920240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8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28" name="Text 25"/>
          <p:cNvSpPr txBox="1"/>
          <p:nvPr/>
        </p:nvSpPr>
        <p:spPr>
          <a:xfrm>
            <a:off x="9052560" y="1920240"/>
            <a:ext cx="2316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required before a student can join the Investment Club today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7269480" y="3218688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8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 2</a:t>
            </a:r>
            <a:endParaRPr lang="en-US" sz="4000" dirty="0"/>
          </a:p>
        </p:txBody>
      </p:sp>
      <p:sp>
        <p:nvSpPr>
          <p:cNvPr id="30" name="Text 27"/>
          <p:cNvSpPr txBox="1"/>
          <p:nvPr/>
        </p:nvSpPr>
        <p:spPr>
          <a:xfrm>
            <a:off x="9052560" y="3218688"/>
            <a:ext cx="2316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many finance internship processes open for junior-year roles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7269480" y="4517136"/>
            <a:ext cx="1737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F8F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32" name="Text 29"/>
          <p:cNvSpPr txBox="1"/>
          <p:nvPr/>
        </p:nvSpPr>
        <p:spPr>
          <a:xfrm>
            <a:off x="9052560" y="4517136"/>
            <a:ext cx="231617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open, all-major finance clubs on campus today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AFC is the on-ramp to the Greyhound Investment Club — together they form a complete finance pathway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2926080" y="1691640"/>
            <a:ext cx="3749040" cy="868680"/>
          </a:xfrm>
          <a:prstGeom prst="rect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3108960" y="1691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Assumption Finance Club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D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 ·  Student-run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7223760" y="1691640"/>
            <a:ext cx="3749040" cy="86868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06640" y="1691640"/>
            <a:ext cx="3383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Greyhound Investment Club</a:t>
            </a:r>
            <a:endParaRPr lang="en-US" sz="1600" dirty="0"/>
          </a:p>
          <a:p>
            <a:pPr indent="0" marL="0">
              <a:buNone/>
            </a:pPr>
            <a:r>
              <a:rPr lang="en-US" sz="1000" dirty="0">
                <a:solidFill>
                  <a:srgbClr val="D5E3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 ·  Grenon School of Business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48640" y="2697480"/>
            <a:ext cx="10975543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1520" y="269748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108960" y="26974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major, any year</a:t>
            </a:r>
            <a:endParaRPr lang="en-US" sz="1300" dirty="0"/>
          </a:p>
        </p:txBody>
      </p:sp>
      <p:sp>
        <p:nvSpPr>
          <p:cNvPr id="14" name="Text 11"/>
          <p:cNvSpPr txBox="1"/>
          <p:nvPr/>
        </p:nvSpPr>
        <p:spPr>
          <a:xfrm>
            <a:off x="7406640" y="269748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who completed FIN 325 + ECO 115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48640" y="3447288"/>
            <a:ext cx="1097554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31520" y="3447288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3108960" y="34472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Careers: skills, networking, recruiting</a:t>
            </a:r>
            <a:endParaRPr lang="en-US" sz="1300" dirty="0"/>
          </a:p>
        </p:txBody>
      </p:sp>
      <p:sp>
        <p:nvSpPr>
          <p:cNvPr id="18" name="Text 15"/>
          <p:cNvSpPr txBox="1"/>
          <p:nvPr/>
        </p:nvSpPr>
        <p:spPr>
          <a:xfrm>
            <a:off x="7406640" y="3447288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Managing a real portfolio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548640" y="4197096"/>
            <a:ext cx="10975543" cy="658368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1520" y="4197096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3108960" y="41970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Workshops, speakers, treks, competitions</a:t>
            </a:r>
            <a:endParaRPr lang="en-US" sz="1300" dirty="0"/>
          </a:p>
        </p:txBody>
      </p:sp>
      <p:sp>
        <p:nvSpPr>
          <p:cNvPr id="22" name="Text 19"/>
          <p:cNvSpPr txBox="1"/>
          <p:nvPr/>
        </p:nvSpPr>
        <p:spPr>
          <a:xfrm>
            <a:off x="7406640" y="4197096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room, stock analysis, Bloomberg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48640" y="4946904"/>
            <a:ext cx="10975543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731520" y="4946904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3108960" y="494690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Internship-ready students — and GIC applicants</a:t>
            </a:r>
            <a:endParaRPr lang="en-US" sz="1300" dirty="0"/>
          </a:p>
        </p:txBody>
      </p:sp>
      <p:sp>
        <p:nvSpPr>
          <p:cNvPr id="26" name="Text 23"/>
          <p:cNvSpPr txBox="1"/>
          <p:nvPr/>
        </p:nvSpPr>
        <p:spPr>
          <a:xfrm>
            <a:off x="7406640" y="4946904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investment track record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793992" y="1892808"/>
            <a:ext cx="320040" cy="457200"/>
          </a:xfrm>
          <a:prstGeom prst="rightArrow">
            <a:avLst/>
          </a:prstGeom>
          <a:solidFill>
            <a:srgbClr val="B6BFC5"/>
          </a:solidFill>
          <a:ln w="12700">
            <a:solidFill>
              <a:srgbClr val="B6BFC5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548640" y="576072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05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Pipeline: AFC members take FIN 325 / ECO 115, then apply to GIC as stronger candidates.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WILL DO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pillars turn interest into offers: Learn, Connect, Compete, Launch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567864" cy="41148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2103120"/>
            <a:ext cx="822960" cy="822960"/>
          </a:xfrm>
          <a:prstGeom prst="ellipse">
            <a:avLst/>
          </a:prstGeom>
          <a:solidFill>
            <a:srgbClr val="2F8FD8"/>
          </a:solidFill>
          <a:ln w="12700">
            <a:solidFill>
              <a:srgbClr val="2F8FD8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" y="230428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202104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4A6A9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11" name="Text 7"/>
          <p:cNvSpPr txBox="1"/>
          <p:nvPr/>
        </p:nvSpPr>
        <p:spPr>
          <a:xfrm>
            <a:off x="822960" y="310896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822960" y="3749040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&amp; financial modeling basics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Accounting &amp; valuation 101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Markets briefing every meeting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3390824" y="1783080"/>
            <a:ext cx="2567864" cy="4114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3665144" y="2103120"/>
            <a:ext cx="822960" cy="822960"/>
          </a:xfrm>
          <a:prstGeom prst="ellipse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66312" y="2304288"/>
            <a:ext cx="420624" cy="420624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5044288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6B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3665144" y="310896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</a:t>
            </a:r>
            <a:endParaRPr lang="en-US" sz="2200" dirty="0"/>
          </a:p>
        </p:txBody>
      </p:sp>
      <p:sp>
        <p:nvSpPr>
          <p:cNvPr id="18" name="Text 13"/>
          <p:cNvSpPr txBox="1"/>
          <p:nvPr/>
        </p:nvSpPr>
        <p:spPr>
          <a:xfrm>
            <a:off x="3665144" y="3749040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&amp; industry speakers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Boston / Worcester firm visits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 &amp; networking workshops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233008" y="1783080"/>
            <a:ext cx="2567864" cy="4114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507328" y="2103120"/>
            <a:ext cx="822960" cy="822960"/>
          </a:xfrm>
          <a:prstGeom prst="ellipse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08496" y="2304288"/>
            <a:ext cx="420624" cy="42062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886471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6B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3" name="Text 17"/>
          <p:cNvSpPr txBox="1"/>
          <p:nvPr/>
        </p:nvSpPr>
        <p:spPr>
          <a:xfrm>
            <a:off x="6507328" y="310896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</a:t>
            </a:r>
            <a:endParaRPr lang="en-US" sz="2200" dirty="0"/>
          </a:p>
        </p:txBody>
      </p:sp>
      <p:sp>
        <p:nvSpPr>
          <p:cNvPr id="24" name="Text 18"/>
          <p:cNvSpPr txBox="1"/>
          <p:nvPr/>
        </p:nvSpPr>
        <p:spPr>
          <a:xfrm>
            <a:off x="6507328" y="3749040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stock-pitch competition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Intercollegiate case competitions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mix majors &amp; years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9075191" y="1783080"/>
            <a:ext cx="2567864" cy="4114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349511" y="2103120"/>
            <a:ext cx="822960" cy="822960"/>
          </a:xfrm>
          <a:prstGeom prst="ellipse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0679" y="2304288"/>
            <a:ext cx="420624" cy="420624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0728655" y="210312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000" b="1" dirty="0">
                <a:solidFill>
                  <a:srgbClr val="B6BFC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29" name="Text 22"/>
          <p:cNvSpPr txBox="1"/>
          <p:nvPr/>
        </p:nvSpPr>
        <p:spPr>
          <a:xfrm>
            <a:off x="9349511" y="3108960"/>
            <a:ext cx="20192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2200" dirty="0"/>
          </a:p>
        </p:txBody>
      </p:sp>
      <p:sp>
        <p:nvSpPr>
          <p:cNvPr id="30" name="Text 23"/>
          <p:cNvSpPr txBox="1"/>
          <p:nvPr/>
        </p:nvSpPr>
        <p:spPr>
          <a:xfrm>
            <a:off x="9349511" y="3749040"/>
            <a:ext cx="211066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 &amp; cover letter reviews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&amp; behavioral mock interviews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Internship tracker with CareerSuccess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Year-one roadmap: launch this semester, prove traction by spring, hand over to a new board in April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822960" y="3246120"/>
            <a:ext cx="10545775" cy="0"/>
          </a:xfrm>
          <a:prstGeom prst="line">
            <a:avLst/>
          </a:prstGeom>
          <a:noFill/>
          <a:ln w="38100">
            <a:solidFill>
              <a:srgbClr val="B6BFC5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822960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 2026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6278728" y="1783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SPRING 2027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095848" y="1783080"/>
            <a:ext cx="0" cy="4114800"/>
          </a:xfrm>
          <a:prstGeom prst="line">
            <a:avLst/>
          </a:prstGeom>
          <a:noFill/>
          <a:ln w="12700">
            <a:solidFill>
              <a:srgbClr val="D9DEE3"/>
            </a:solidFill>
            <a:prstDash val="dash"/>
          </a:ln>
        </p:spPr>
      </p:sp>
      <p:sp>
        <p:nvSpPr>
          <p:cNvPr id="11" name="Shape 8"/>
          <p:cNvSpPr/>
          <p:nvPr/>
        </p:nvSpPr>
        <p:spPr>
          <a:xfrm>
            <a:off x="1518895" y="3063240"/>
            <a:ext cx="365760" cy="365760"/>
          </a:xfrm>
          <a:prstGeom prst="ellipse">
            <a:avLst/>
          </a:prstGeom>
          <a:solidFill>
            <a:srgbClr val="2F8FD8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78815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Oct</a:t>
            </a:r>
            <a:endParaRPr lang="en-US" sz="2000" dirty="0"/>
          </a:p>
        </p:txBody>
      </p:sp>
      <p:sp>
        <p:nvSpPr>
          <p:cNvPr id="13" name="Shape 10"/>
          <p:cNvSpPr/>
          <p:nvPr/>
        </p:nvSpPr>
        <p:spPr>
          <a:xfrm>
            <a:off x="914400" y="3657600"/>
            <a:ext cx="1574749" cy="2103120"/>
          </a:xfrm>
          <a:prstGeom prst="rect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1560" y="3794760"/>
            <a:ext cx="1300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Recognition &amp; e-board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1051560" y="4480560"/>
            <a:ext cx="13004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 secured, constitution filed, founding board of 5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3276524" y="3063240"/>
            <a:ext cx="365760" cy="3657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2636444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Nov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2672029" y="3657600"/>
            <a:ext cx="1574749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2809189" y="3794760"/>
            <a:ext cx="1300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+ first speaker</a:t>
            </a:r>
            <a:endParaRPr lang="en-US" sz="1300" dirty="0"/>
          </a:p>
        </p:txBody>
      </p:sp>
      <p:sp>
        <p:nvSpPr>
          <p:cNvPr id="20" name="Text 17"/>
          <p:cNvSpPr txBox="1"/>
          <p:nvPr/>
        </p:nvSpPr>
        <p:spPr>
          <a:xfrm>
            <a:off x="2809189" y="4480560"/>
            <a:ext cx="13004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event, Excel workshop, alumni talk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034153" y="3063240"/>
            <a:ext cx="365760" cy="3657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394073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</a:t>
            </a:r>
            <a:endParaRPr lang="en-US" sz="2000" dirty="0"/>
          </a:p>
        </p:txBody>
      </p:sp>
      <p:sp>
        <p:nvSpPr>
          <p:cNvPr id="23" name="Shape 20"/>
          <p:cNvSpPr/>
          <p:nvPr/>
        </p:nvSpPr>
        <p:spPr>
          <a:xfrm>
            <a:off x="4429658" y="3657600"/>
            <a:ext cx="1574749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4566818" y="3794760"/>
            <a:ext cx="1300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Stock-pitch night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4566818" y="4480560"/>
            <a:ext cx="13004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pitch one stock; joint judging with GIC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791782" y="3063240"/>
            <a:ext cx="365760" cy="3657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151702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Jan–Feb</a:t>
            </a:r>
            <a:endParaRPr lang="en-US" sz="2000" dirty="0"/>
          </a:p>
        </p:txBody>
      </p:sp>
      <p:sp>
        <p:nvSpPr>
          <p:cNvPr id="28" name="Shape 25"/>
          <p:cNvSpPr/>
          <p:nvPr/>
        </p:nvSpPr>
        <p:spPr>
          <a:xfrm>
            <a:off x="6187288" y="3657600"/>
            <a:ext cx="1574749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324448" y="3794760"/>
            <a:ext cx="1300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bootcamp</a:t>
            </a:r>
            <a:endParaRPr lang="en-US" sz="1300" dirty="0"/>
          </a:p>
        </p:txBody>
      </p:sp>
      <p:sp>
        <p:nvSpPr>
          <p:cNvPr id="30" name="Text 27"/>
          <p:cNvSpPr txBox="1"/>
          <p:nvPr/>
        </p:nvSpPr>
        <p:spPr>
          <a:xfrm>
            <a:off x="6324448" y="4480560"/>
            <a:ext cx="13004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4-week valuation series; Boston firm trek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8549411" y="3063240"/>
            <a:ext cx="365760" cy="3657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909331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</a:t>
            </a:r>
            <a:endParaRPr lang="en-US" sz="2000" dirty="0"/>
          </a:p>
        </p:txBody>
      </p:sp>
      <p:sp>
        <p:nvSpPr>
          <p:cNvPr id="33" name="Shape 30"/>
          <p:cNvSpPr/>
          <p:nvPr/>
        </p:nvSpPr>
        <p:spPr>
          <a:xfrm>
            <a:off x="7944917" y="3657600"/>
            <a:ext cx="1574749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8082077" y="3794760"/>
            <a:ext cx="1300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competition</a:t>
            </a:r>
            <a:endParaRPr lang="en-US" sz="1300" dirty="0"/>
          </a:p>
        </p:txBody>
      </p:sp>
      <p:sp>
        <p:nvSpPr>
          <p:cNvPr id="35" name="Text 32"/>
          <p:cNvSpPr txBox="1"/>
          <p:nvPr/>
        </p:nvSpPr>
        <p:spPr>
          <a:xfrm>
            <a:off x="8082077" y="4480560"/>
            <a:ext cx="13004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first team to an intercollegiate competition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10307041" y="3063240"/>
            <a:ext cx="365760" cy="365760"/>
          </a:xfrm>
          <a:prstGeom prst="ellipse">
            <a:avLst/>
          </a:prstGeom>
          <a:solidFill>
            <a:srgbClr val="0B1F3A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9666961" y="23317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</a:t>
            </a:r>
            <a:endParaRPr lang="en-US" sz="2000" dirty="0"/>
          </a:p>
        </p:txBody>
      </p:sp>
      <p:sp>
        <p:nvSpPr>
          <p:cNvPr id="38" name="Shape 35"/>
          <p:cNvSpPr/>
          <p:nvPr/>
        </p:nvSpPr>
        <p:spPr>
          <a:xfrm>
            <a:off x="9702546" y="3657600"/>
            <a:ext cx="1574749" cy="210312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9839706" y="3794760"/>
            <a:ext cx="1300429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Showcase &amp; handover</a:t>
            </a:r>
            <a:endParaRPr lang="en-US" sz="1300" dirty="0"/>
          </a:p>
        </p:txBody>
      </p:sp>
      <p:sp>
        <p:nvSpPr>
          <p:cNvPr id="40" name="Text 37"/>
          <p:cNvSpPr txBox="1"/>
          <p:nvPr/>
        </p:nvSpPr>
        <p:spPr>
          <a:xfrm>
            <a:off x="9839706" y="4480560"/>
            <a:ext cx="1300429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Year-in-review, elect successors, plan year 2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lean five-person board with a faculty advisor keeps AFC accountable and sustainable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95648" y="1737360"/>
            <a:ext cx="3200400" cy="777240"/>
          </a:xfrm>
          <a:prstGeom prst="rect">
            <a:avLst/>
          </a:prstGeom>
          <a:solidFill>
            <a:srgbClr val="005B99"/>
          </a:solidFill>
          <a:ln w="12700">
            <a:solidFill>
              <a:srgbClr val="005B99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87088" y="173736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Advisor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[Professor — to be confirmed]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095848" y="2514600"/>
            <a:ext cx="0" cy="32004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495648" y="2834640"/>
            <a:ext cx="3200400" cy="77724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87088" y="28346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President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Garvik (founder)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095848" y="3611880"/>
            <a:ext cx="0" cy="27432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98168" y="3886200"/>
            <a:ext cx="8595360" cy="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798168" y="3886200"/>
            <a:ext cx="0" cy="27432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815188" y="4160520"/>
            <a:ext cx="196596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06628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Education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Workshops &amp; bootcamps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3947008" y="3886200"/>
            <a:ext cx="0" cy="27432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2964028" y="4160520"/>
            <a:ext cx="196596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55468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Careers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Speakers, treks, alumni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6095848" y="3886200"/>
            <a:ext cx="0" cy="27432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112868" y="4160520"/>
            <a:ext cx="196596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204308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VP Markets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Stock pitch &amp; GIC link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8244688" y="3886200"/>
            <a:ext cx="0" cy="27432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261708" y="4160520"/>
            <a:ext cx="196596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53148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Treasurer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SGA reporting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10393528" y="3886200"/>
            <a:ext cx="0" cy="274320"/>
          </a:xfrm>
          <a:prstGeom prst="line">
            <a:avLst/>
          </a:prstGeom>
          <a:noFill/>
          <a:ln w="25400">
            <a:solidFill>
              <a:srgbClr val="B6BFC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410548" y="4160520"/>
            <a:ext cx="1965960" cy="9144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501988" y="4160520"/>
            <a:ext cx="1783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Marketing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Social, recruiting members</a:t>
            </a:r>
            <a:endParaRPr lang="en-US" sz="1400" dirty="0"/>
          </a:p>
        </p:txBody>
      </p:sp>
      <p:sp>
        <p:nvSpPr>
          <p:cNvPr id="29" name="Text 26"/>
          <p:cNvSpPr txBox="1"/>
          <p:nvPr/>
        </p:nvSpPr>
        <p:spPr>
          <a:xfrm>
            <a:off x="548640" y="544068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Membership: open to all undergraduates  ·  Target of ~30 active members in year one  ·  Board elected each April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SUCCESS METRICS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modest first-year budget, measured against clear targets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144768"/>
            <a:ext cx="1109441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Estimates for planning only; to be refined with the advisor and SGA budget guidelines.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169164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Estimated year-one budget (USD)</a:t>
            </a:r>
            <a:endParaRPr lang="en-US" sz="15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48640" y="2057400"/>
          <a:ext cx="57607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 6"/>
          <p:cNvSpPr txBox="1"/>
          <p:nvPr/>
        </p:nvSpPr>
        <p:spPr>
          <a:xfrm>
            <a:off x="548640" y="5394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B677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 </a:t>
            </a:r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≈ $2,300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6766560" y="1691640"/>
            <a:ext cx="48764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Year-one targets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6766560" y="2103120"/>
            <a:ext cx="2346808" cy="160020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949440" y="224028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en-US" sz="3800" dirty="0"/>
          </a:p>
        </p:txBody>
      </p:sp>
      <p:sp>
        <p:nvSpPr>
          <p:cNvPr id="14" name="Text 10"/>
          <p:cNvSpPr txBox="1"/>
          <p:nvPr/>
        </p:nvSpPr>
        <p:spPr>
          <a:xfrm>
            <a:off x="6949440" y="3017520"/>
            <a:ext cx="198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CE6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members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9250528" y="2103120"/>
            <a:ext cx="2346808" cy="1600200"/>
          </a:xfrm>
          <a:prstGeom prst="rect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9433408" y="224028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5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8+</a:t>
            </a:r>
            <a:endParaRPr lang="en-US" sz="3800" dirty="0"/>
          </a:p>
        </p:txBody>
      </p:sp>
      <p:sp>
        <p:nvSpPr>
          <p:cNvPr id="17" name="Text 13"/>
          <p:cNvSpPr txBox="1"/>
          <p:nvPr/>
        </p:nvSpPr>
        <p:spPr>
          <a:xfrm>
            <a:off x="9433408" y="3017520"/>
            <a:ext cx="198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per year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6766560" y="3886200"/>
            <a:ext cx="2346808" cy="1600200"/>
          </a:xfrm>
          <a:prstGeom prst="rect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6949440" y="402336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5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800" dirty="0"/>
          </a:p>
        </p:txBody>
      </p:sp>
      <p:sp>
        <p:nvSpPr>
          <p:cNvPr id="20" name="Text 16"/>
          <p:cNvSpPr txBox="1"/>
          <p:nvPr/>
        </p:nvSpPr>
        <p:spPr>
          <a:xfrm>
            <a:off x="6949440" y="4800600"/>
            <a:ext cx="198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alumni / industry speakers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9250528" y="3886200"/>
            <a:ext cx="2346808" cy="1600200"/>
          </a:xfrm>
          <a:prstGeom prst="rect">
            <a:avLst/>
          </a:prstGeom>
          <a:solidFill>
            <a:srgbClr val="EAF2F9"/>
          </a:solidFill>
          <a:ln w="12700">
            <a:solidFill>
              <a:srgbClr val="EAF2F9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9433408" y="4023360"/>
            <a:ext cx="19810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05B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800" dirty="0"/>
          </a:p>
        </p:txBody>
      </p:sp>
      <p:sp>
        <p:nvSpPr>
          <p:cNvPr id="23" name="Text 19"/>
          <p:cNvSpPr txBox="1"/>
          <p:nvPr/>
        </p:nvSpPr>
        <p:spPr>
          <a:xfrm>
            <a:off x="9433408" y="4800600"/>
            <a:ext cx="198104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join GIC or land a finance internship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&amp; MITIGATIONS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 have anticipated the main risks — and how to mitigate each one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5410048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057400"/>
            <a:ext cx="347472" cy="34747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325880" y="198424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Overlap with the Investment Club</a:t>
            </a:r>
            <a:endParaRPr lang="en-US" sz="15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697480"/>
            <a:ext cx="347472" cy="347472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1325880" y="2587752"/>
            <a:ext cx="440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scope split (careers vs. portfolio); joint event each semester; GIC member on AFC advisory seat.</a:t>
            </a:r>
            <a:endParaRPr lang="en-US" sz="1300" dirty="0"/>
          </a:p>
        </p:txBody>
      </p:sp>
      <p:sp>
        <p:nvSpPr>
          <p:cNvPr id="12" name="Shape 7"/>
          <p:cNvSpPr/>
          <p:nvPr/>
        </p:nvSpPr>
        <p:spPr>
          <a:xfrm>
            <a:off x="6233008" y="1783080"/>
            <a:ext cx="5410048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07328" y="2057400"/>
            <a:ext cx="347472" cy="347472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7010248" y="198424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Club fades after the founder leaves</a:t>
            </a:r>
            <a:endParaRPr lang="en-US" sz="15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07328" y="2697480"/>
            <a:ext cx="347472" cy="347472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7010248" y="2587752"/>
            <a:ext cx="440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Mixed-year board, written playbook, elections every April, faculty advisor for continuity.</a:t>
            </a:r>
            <a:endParaRPr lang="en-US" sz="1300" dirty="0"/>
          </a:p>
        </p:txBody>
      </p:sp>
      <p:sp>
        <p:nvSpPr>
          <p:cNvPr id="17" name="Shape 10"/>
          <p:cNvSpPr/>
          <p:nvPr/>
        </p:nvSpPr>
        <p:spPr>
          <a:xfrm>
            <a:off x="548640" y="3886200"/>
            <a:ext cx="5410048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4160520"/>
            <a:ext cx="347472" cy="347472"/>
          </a:xfrm>
          <a:prstGeom prst="rect">
            <a:avLst/>
          </a:prstGeom>
        </p:spPr>
      </p:pic>
      <p:sp>
        <p:nvSpPr>
          <p:cNvPr id="19" name="Text 11"/>
          <p:cNvSpPr txBox="1"/>
          <p:nvPr/>
        </p:nvSpPr>
        <p:spPr>
          <a:xfrm>
            <a:off x="1325880" y="408736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turnout after launch</a:t>
            </a:r>
            <a:endParaRPr lang="en-US" sz="1500" dirty="0"/>
          </a:p>
        </p:txBody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800600"/>
            <a:ext cx="347472" cy="34747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325880" y="4690872"/>
            <a:ext cx="440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to all majors; practical, résumé-worthy sessions; food at events; consistent schedule.</a:t>
            </a:r>
            <a:endParaRPr lang="en-US" sz="1300" dirty="0"/>
          </a:p>
        </p:txBody>
      </p:sp>
      <p:sp>
        <p:nvSpPr>
          <p:cNvPr id="22" name="Shape 13"/>
          <p:cNvSpPr/>
          <p:nvPr/>
        </p:nvSpPr>
        <p:spPr>
          <a:xfrm>
            <a:off x="6233008" y="3886200"/>
            <a:ext cx="5410048" cy="1828800"/>
          </a:xfrm>
          <a:prstGeom prst="rect">
            <a:avLst/>
          </a:prstGeom>
          <a:solidFill>
            <a:srgbClr val="F4F6F8"/>
          </a:solidFill>
          <a:ln w="12700">
            <a:solidFill>
              <a:srgbClr val="F4F6F8"/>
            </a:solidFill>
            <a:prstDash val="solid"/>
          </a:ln>
        </p:spPr>
      </p:sp>
      <p:pic>
        <p:nvPicPr>
          <p:cNvPr id="2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07328" y="4160520"/>
            <a:ext cx="347472" cy="34747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010248" y="4087368"/>
            <a:ext cx="44042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Founder capacity (in-season athlete)</a:t>
            </a:r>
            <a:endParaRPr lang="en-US" sz="1500" dirty="0"/>
          </a:p>
        </p:txBody>
      </p:sp>
      <p:pic>
        <p:nvPicPr>
          <p:cNvPr id="2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07328" y="4800600"/>
            <a:ext cx="347472" cy="347472"/>
          </a:xfrm>
          <a:prstGeom prst="rect">
            <a:avLst/>
          </a:prstGeom>
        </p:spPr>
      </p:pic>
      <p:sp>
        <p:nvSpPr>
          <p:cNvPr id="26" name="Text 15"/>
          <p:cNvSpPr txBox="1"/>
          <p:nvPr/>
        </p:nvSpPr>
        <p:spPr>
          <a:xfrm>
            <a:off x="7010248" y="4690872"/>
            <a:ext cx="44042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Responsibilities split across five VPs; calendar built around the tennis season.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005B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594360"/>
            <a:ext cx="1027145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am asking for today — and the next steps</a:t>
            </a:r>
            <a:endParaRPr lang="en-US" sz="26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4415" y="320040"/>
            <a:ext cx="548640" cy="5486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85855" y="6446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44652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7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Assumption Finance Club  |  Proposal  |  Confidential draft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548640" y="1874520"/>
            <a:ext cx="822960" cy="8229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548640" y="187452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182880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as faculty advisor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recommend a colleague in the Grenon School who would.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548640" y="3154680"/>
            <a:ext cx="822960" cy="8229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48640" y="31546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1600200" y="310896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Guide us through recognition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us to the right office and process for a new student organization.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548640" y="4434840"/>
            <a:ext cx="822960" cy="822960"/>
          </a:xfrm>
          <a:prstGeom prst="ellipse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548640" y="4434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5" name="Text 12"/>
          <p:cNvSpPr txBox="1"/>
          <p:nvPr/>
        </p:nvSpPr>
        <p:spPr>
          <a:xfrm>
            <a:off x="1600200" y="4389120"/>
            <a:ext cx="5120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Connect us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rgbClr val="1A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Introductions to the Greyhound Investment Club leadership and CareerSuccess.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7040880" y="1783080"/>
            <a:ext cx="4602175" cy="3931920"/>
          </a:xfrm>
          <a:prstGeom prst="rect">
            <a:avLst/>
          </a:prstGeom>
          <a:solidFill>
            <a:srgbClr val="0B1F3A"/>
          </a:solidFill>
          <a:ln w="12700">
            <a:solidFill>
              <a:srgbClr val="0B1F3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7360920" y="1965960"/>
            <a:ext cx="39620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6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0920" y="2496312"/>
            <a:ext cx="256032" cy="256032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7772400" y="2423160"/>
            <a:ext cx="3596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advisor; get recognition paperwork</a:t>
            </a:r>
            <a:endParaRPr lang="en-US" sz="1250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3273552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772400" y="3200400"/>
            <a:ext cx="3596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2 weeks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founding board; draft constitution</a:t>
            </a:r>
            <a:endParaRPr lang="en-US" sz="125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4050792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0" y="3977640"/>
            <a:ext cx="3596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end of Oct.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for recognition; meet GIC leadership</a:t>
            </a:r>
            <a:endParaRPr lang="en-US" sz="12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60920" y="4828032"/>
            <a:ext cx="256032" cy="25603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772400" y="4754880"/>
            <a:ext cx="35963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November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9D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Kick-off event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2194560"/>
            <a:ext cx="6583680" cy="6583680"/>
          </a:xfrm>
          <a:prstGeom prst="ellipse">
            <a:avLst/>
          </a:prstGeom>
          <a:solidFill>
            <a:srgbClr val="10294B"/>
          </a:solidFill>
          <a:ln w="12700">
            <a:solidFill>
              <a:srgbClr val="10294B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1371600"/>
            <a:ext cx="3931920" cy="39319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035040" y="20116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 txBox="1"/>
          <p:nvPr/>
        </p:nvSpPr>
        <p:spPr>
          <a:xfrm>
            <a:off x="6035040" y="292608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BFD7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 &amp; discussion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3931920"/>
            <a:ext cx="5486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 Garvik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6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Assumption Finance Club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B6BF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fabian.garvik@assumption.edu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Assumption Finance Club — Proposal</dc:title>
  <dc:subject>PptxGenJS Presentation</dc:subject>
  <dc:creator>Fabian Garvik</dc:creator>
  <cp:lastModifiedBy>Fabian Garvik</cp:lastModifiedBy>
  <cp:revision>1</cp:revision>
  <dcterms:created xsi:type="dcterms:W3CDTF">2026-09-27T03:05:22Z</dcterms:created>
  <dcterms:modified xsi:type="dcterms:W3CDTF">2026-09-27T03:05:22Z</dcterms:modified>
</cp:coreProperties>
</file>